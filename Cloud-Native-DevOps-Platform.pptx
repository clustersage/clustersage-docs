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4" r:id="rId4"/>
    <p:sldId id="258" r:id="rId5"/>
    <p:sldId id="259" r:id="rId6"/>
    <p:sldId id="260" r:id="rId7"/>
    <p:sldId id="262" r:id="rId8"/>
    <p:sldId id="263" r:id="rId9"/>
    <p:sldId id="265" r:id="rId10"/>
    <p:sldId id="261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DM Sans Medium" pitchFamily="2" charset="0"/>
      <p:regular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0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126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8489-C4F1-EE75-2A69-7E7678B1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AD92A-7A2D-63AF-C9AB-1D4F0D647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B6A9E-3E98-9060-B9C6-F9C1A5DF5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DC2CE-CCF8-E30A-5D7A-286C0C315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9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AA31-B885-90B1-95D3-823747A48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291B1-CBF6-B9E4-FDE1-34EF77440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6B1C6-6ECC-E481-A00F-8761CBB5B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91911-20E8-D791-377C-E597F5DDF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67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88C4-39C6-B977-5004-5D16BC9B4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FA13B-17EE-BB35-6BF7-47E6D6120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7A2CB-D799-216D-D869-02ADBFE2D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AA81D-DBBE-4F9F-5706-3AFF2FBD4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04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781A-91A5-C474-3CBE-663D2EC3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BA51A-02A7-494A-BDF9-97C85C843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F7282-868E-864D-FD40-EBB9CF1E8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748C1-24C5-3290-6755-48AC86C0F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29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52FD-CDE9-F272-7D8A-8CF4D8CA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08C36-67F7-9BB9-04D7-9BEAF63ED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B88BF-DAE5-E648-F9AE-80ADD92D6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6B0F8-C0D8-3C48-F218-E92A254D0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26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FBEF-3888-DBFF-45AB-47A7FB1C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CC37D-5BF3-D318-426D-B12AC8F5F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F71A4-9CD9-37AF-9C3E-70BC1E489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B405-294F-A9C3-7DC1-6FAF0D3F2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54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012C-959F-5167-84C1-26424DB8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97647-2852-D333-4519-75B8DDFA6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CB365-48E8-1591-9D0B-56F867498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0BDE-D007-B334-E996-C3F8D6D05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919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F181-6254-8226-40A6-31E6B1E7A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A62A4-D250-8FF9-A10A-EACA1E431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0CE90-4E9F-33B3-322E-6C1C1F8E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7F70F-CB4B-8899-9EB7-B09C66F1E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74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1292944"/>
            <a:ext cx="355289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7356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161613"/>
                </a:solidFill>
                <a:latin typeface="DM Sans Medium" pitchFamily="34" charset="0"/>
              </a:rPr>
              <a:t>CLUSTERSAGE</a:t>
            </a:r>
            <a:endParaRPr lang="en-US" sz="4800" b="1" dirty="0"/>
          </a:p>
        </p:txBody>
      </p:sp>
      <p:sp>
        <p:nvSpPr>
          <p:cNvPr id="5" name="Text 3"/>
          <p:cNvSpPr/>
          <p:nvPr/>
        </p:nvSpPr>
        <p:spPr>
          <a:xfrm>
            <a:off x="496119" y="2510952"/>
            <a:ext cx="7576319" cy="54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Cloud-Native DevOps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3941" y="4276480"/>
            <a:ext cx="1713682" cy="34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/>
              <a:t>Norah Elizabeth Biju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CF43ED-F3FD-3E95-E24F-A37037614DD7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D47BAD-B7CC-FA74-5C38-B1C4665D9BB4}"/>
              </a:ext>
            </a:extLst>
          </p:cNvPr>
          <p:cNvCxnSpPr/>
          <p:nvPr/>
        </p:nvCxnSpPr>
        <p:spPr>
          <a:xfrm>
            <a:off x="496119" y="4055533"/>
            <a:ext cx="82922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61318"/>
            <a:ext cx="1419746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1174" y="703808"/>
            <a:ext cx="17068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81174" y="703808"/>
            <a:ext cx="4272766" cy="72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u="sng" dirty="0">
                <a:solidFill>
                  <a:srgbClr val="161613"/>
                </a:solidFill>
                <a:latin typeface="DM Sans Medium" pitchFamily="34" charset="0"/>
              </a:rPr>
              <a:t>Problem Statement</a:t>
            </a:r>
            <a:endParaRPr lang="en-US" sz="2750" b="1" u="sng" dirty="0"/>
          </a:p>
        </p:txBody>
      </p:sp>
      <p:sp>
        <p:nvSpPr>
          <p:cNvPr id="5" name="Text 3"/>
          <p:cNvSpPr/>
          <p:nvPr/>
        </p:nvSpPr>
        <p:spPr>
          <a:xfrm>
            <a:off x="496119" y="16400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3F4A38B-8D89-A905-3B80-E2A8AA156D0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6119" y="1469901"/>
            <a:ext cx="71924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Kubernetes troubleshooting is slow and difficult because logs, metrics, events, and resource data are spread across multiple tools.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Operations teams spend too much time manually investigating incidents and identifying root causes, especially without deep Kubernetes expertise.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D17DD4-2A64-3593-88B9-5A93889FC73F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4A2F-A968-9090-7703-2E0FC3CD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3BC9B7-4796-35F1-6B95-E98BDAA0C5EA}"/>
              </a:ext>
            </a:extLst>
          </p:cNvPr>
          <p:cNvSpPr/>
          <p:nvPr/>
        </p:nvSpPr>
        <p:spPr>
          <a:xfrm>
            <a:off x="496119" y="661318"/>
            <a:ext cx="1419746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9D7C93-2B63-1F2E-BF6A-88DE6BA046A6}"/>
              </a:ext>
            </a:extLst>
          </p:cNvPr>
          <p:cNvSpPr/>
          <p:nvPr/>
        </p:nvSpPr>
        <p:spPr>
          <a:xfrm>
            <a:off x="581174" y="703808"/>
            <a:ext cx="17068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5C59D6-9591-EA46-530E-15E3C05FC044}"/>
              </a:ext>
            </a:extLst>
          </p:cNvPr>
          <p:cNvSpPr/>
          <p:nvPr/>
        </p:nvSpPr>
        <p:spPr>
          <a:xfrm>
            <a:off x="496119" y="661318"/>
            <a:ext cx="4001319" cy="766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is </a:t>
            </a:r>
            <a:r>
              <a:rPr lang="en-US" sz="2750" b="1" u="sng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ClusterSage</a:t>
            </a:r>
            <a:r>
              <a:rPr lang="en-US" sz="275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? </a:t>
            </a:r>
            <a:endParaRPr lang="en-US" sz="2750" b="1" u="sng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C78F74-205F-5F0F-01B4-406E14C5275D}"/>
              </a:ext>
            </a:extLst>
          </p:cNvPr>
          <p:cNvSpPr/>
          <p:nvPr/>
        </p:nvSpPr>
        <p:spPr>
          <a:xfrm>
            <a:off x="496119" y="16400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CCBC648-650C-407D-3F6C-CE78B4363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55" y="1279088"/>
            <a:ext cx="84739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AI-powered Kubernetes operations platform built for monitoring, troubleshooting, and overall platform visibility.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collects logs, events, metrics, and resource snapshots from clusters through a lightweight in-cluster agent and centralizes them in a SaaS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uses AI to analyze cluster issues, correlate multiple telemetry signals, and generate actionable operational insights and recommendations.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55B7B7-53B2-968B-9E5D-76D98BE71859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03250"/>
            <a:ext cx="1041350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1174" y="1045741"/>
            <a:ext cx="13284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388620"/>
            <a:ext cx="4569544" cy="138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Application Architecture</a:t>
            </a:r>
            <a:endParaRPr lang="en-US" sz="3600" b="1" u="sng" dirty="0"/>
          </a:p>
        </p:txBody>
      </p:sp>
      <p:sp>
        <p:nvSpPr>
          <p:cNvPr id="5" name="Text 3"/>
          <p:cNvSpPr/>
          <p:nvPr/>
        </p:nvSpPr>
        <p:spPr>
          <a:xfrm>
            <a:off x="496119" y="1981944"/>
            <a:ext cx="8151763" cy="2158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DAE2B-9E76-1D40-3B4D-1569DDB8D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6451"/>
            <a:ext cx="9144000" cy="36855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3341A0-6C21-82FD-A087-3264A10EE7D5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8375"/>
            <a:ext cx="1041350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1174" y="610865"/>
            <a:ext cx="13284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441960"/>
            <a:ext cx="6231880" cy="892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Repository &amp; Infrastructure Design</a:t>
            </a:r>
            <a:endParaRPr lang="en-US" sz="3600" b="1" u="sng" dirty="0"/>
          </a:p>
        </p:txBody>
      </p:sp>
      <p:sp>
        <p:nvSpPr>
          <p:cNvPr id="5" name="Text 3"/>
          <p:cNvSpPr/>
          <p:nvPr/>
        </p:nvSpPr>
        <p:spPr>
          <a:xfrm>
            <a:off x="496119" y="1688827"/>
            <a:ext cx="24505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Split-Repo Architecture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05204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isolated repositories enforce clear ownership boundaries: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633216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Next.js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FastAPI API, email worker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helm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workload packaging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environment values, ArgoCD source of truth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Terraform roots per environment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docs</a:t>
            </a: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platform documentation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7605" y="1433662"/>
            <a:ext cx="4107135" cy="3141464"/>
          </a:xfrm>
          <a:prstGeom prst="roundRect">
            <a:avLst>
              <a:gd name="adj" fmla="val 702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89363" y="1688827"/>
            <a:ext cx="28926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Terraform Environment Roots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9363" y="205204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environment has a dedicated Terraform root with isolated state: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89363" y="2633216"/>
            <a:ext cx="3823618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global-shared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ACR, global outputs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nonprod-shared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shared non-prod Front Door, WAF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 / staging / prod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AKS, VNet, PostgreSQL, Key Vault, Service Bus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89363" y="399395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 provisions infra only — workloads deploy via Helm + ArgoCD.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A3BA8-0C9C-6F7A-4C94-1A652C923B03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235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CI/CD Pipeline Triggers</a:t>
            </a:r>
            <a:endParaRPr lang="en-US" sz="3600" b="1" u="sng" dirty="0"/>
          </a:p>
        </p:txBody>
      </p:sp>
      <p:sp>
        <p:nvSpPr>
          <p:cNvPr id="6" name="Text 4"/>
          <p:cNvSpPr/>
          <p:nvPr/>
        </p:nvSpPr>
        <p:spPr>
          <a:xfrm>
            <a:off x="496119" y="2488778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804071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96119" y="2950220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D1B98A-0D04-986B-0624-062B1CE15B73}"/>
              </a:ext>
            </a:extLst>
          </p:cNvPr>
          <p:cNvSpPr txBox="1"/>
          <p:nvPr/>
        </p:nvSpPr>
        <p:spPr>
          <a:xfrm>
            <a:off x="204825" y="1617597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Branching Strategy-GitHub Flow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GitHub Flow is a simple branching strategy where  main always represents the latest stable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New work is done in short-lived feature branches created from main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Changes are merged back only through pull requests after review and validation checks pass.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6C1C0-E050-D363-BC89-D488A73F0279}"/>
              </a:ext>
            </a:extLst>
          </p:cNvPr>
          <p:cNvSpPr txBox="1"/>
          <p:nvPr/>
        </p:nvSpPr>
        <p:spPr>
          <a:xfrm>
            <a:off x="4572000" y="1617597"/>
            <a:ext cx="4572000" cy="2265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Branching Rules</a:t>
            </a:r>
          </a:p>
          <a:p>
            <a:pPr>
              <a:buNone/>
            </a:pP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No direct push to main.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PR is required for merging to main.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Approval required from </a:t>
            </a:r>
            <a:r>
              <a:rPr lang="en-IN" dirty="0" err="1"/>
              <a:t>atleast</a:t>
            </a:r>
            <a:r>
              <a:rPr lang="en-IN" dirty="0"/>
              <a:t> one person from the review team for the PR.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1DD01D-F8D7-00D1-AF09-4E5FC75E361D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EB62-BFD5-0809-4C25-1BF7D0DD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D0CAD2-2529-1356-96B3-20A38C27A8CB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71C7A-2EB2-E2C6-7F30-46602D3F85A7}"/>
              </a:ext>
            </a:extLst>
          </p:cNvPr>
          <p:cNvSpPr/>
          <p:nvPr/>
        </p:nvSpPr>
        <p:spPr>
          <a:xfrm>
            <a:off x="496119" y="514424"/>
            <a:ext cx="235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CI/CD Architecture</a:t>
            </a:r>
            <a:endParaRPr lang="en-US" sz="3600" b="1" u="sn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419B61-1668-D803-B80D-27C78B77CF75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D37F32-98E8-569F-4EDC-205F08A87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1077"/>
            <a:ext cx="9144000" cy="344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6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B859-69AC-02D5-CD65-A6E60829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BF5541-4A1A-8551-2F4A-5BD5B41976B1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70AEA2-026A-909C-C0D3-2A096FAB9730}"/>
              </a:ext>
            </a:extLst>
          </p:cNvPr>
          <p:cNvSpPr/>
          <p:nvPr/>
        </p:nvSpPr>
        <p:spPr>
          <a:xfrm>
            <a:off x="496119" y="251460"/>
            <a:ext cx="2356321" cy="48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Architecture</a:t>
            </a:r>
            <a:endParaRPr lang="en-US" sz="3600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D1448A-7777-D3B2-F514-F2DF8BCF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014"/>
            <a:ext cx="9144000" cy="405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8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6B85-9B86-B3FD-65D8-628DAAC9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2E2215-0FA3-5EAE-B159-3905CC74C22D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68AA5C-6093-D068-0323-B634AF515D0F}"/>
              </a:ext>
            </a:extLst>
          </p:cNvPr>
          <p:cNvSpPr/>
          <p:nvPr/>
        </p:nvSpPr>
        <p:spPr>
          <a:xfrm>
            <a:off x="496119" y="251460"/>
            <a:ext cx="2356321" cy="48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</a:rPr>
              <a:t>Security</a:t>
            </a:r>
            <a:endParaRPr lang="en-US" sz="3600" b="1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9DEF607-3462-9E63-E924-EEA0929149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3933" y="644723"/>
            <a:ext cx="885613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 and access are secured using Azure AD / Entra ID, AKS RBAC, managed identities, and workload identity, which avoids broad access and reduces reliance on static credentials.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Secrets are protected through Azure Key Vault, GitHub Secrets, and OIDC-based pipeline authentication, so sensitive values are not hardcoded or stored directly in code.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security is strengthened through private endpoints, disabled public access on sensitive services, node pools without public IPs, and outbound-only communication from the cluster agent.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access is minimized by giving the in-cluster agent read-only Kubernetes permissions, reducing risk while still allowing monitoring and analysis.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E8040-5CE0-B490-B099-E3D24D327EFD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18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61045"/>
            <a:ext cx="887164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1174" y="903536"/>
            <a:ext cx="117425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312421"/>
            <a:ext cx="6586612" cy="131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Governance, Scaling &amp; Cost Strategy</a:t>
            </a:r>
            <a:endParaRPr lang="en-US" sz="3600" b="1" u="sng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839739"/>
            <a:ext cx="2641774" cy="24426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000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Governance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307059"/>
            <a:ext cx="22439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GitOps is the single source of truth. Infra and app delivery are separated. Prod promotions require manual confirmation with semantic version inputs. No direct kubectl or Helm upgrades to prod.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1839739"/>
            <a:ext cx="2641774" cy="24426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2000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Scaling Strategy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78560" y="2307059"/>
            <a:ext cx="22439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and API run with multiple replicas and HPA support. AKS autoscaling enabled with optional separate user node pool. Shared ACR eliminates registry duplication. PostgreSQL read replica support available.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1839739"/>
            <a:ext cx="2641774" cy="24426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3042" y="2000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Cost Optimization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43042" y="2307059"/>
            <a:ext cx="22439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ACR and non-prod Front Door reduce duplication. Environment separation applied only where governance justifies it. Immutable promotion eliminates redundant rebuild cycles. Selective private endpoint rollout based on risk.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6253F3-98B1-0819-D32B-799C29D80925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851E-89CB-5007-2EE4-E14C4AFD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3C4086-9625-1CAC-E155-BCB07A9BC7E5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64708A-2E81-4ADD-C748-67B0B476A97D}"/>
              </a:ext>
            </a:extLst>
          </p:cNvPr>
          <p:cNvSpPr/>
          <p:nvPr/>
        </p:nvSpPr>
        <p:spPr>
          <a:xfrm>
            <a:off x="496119" y="251460"/>
            <a:ext cx="2356321" cy="48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/>
              <a:t>Terraform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DC9C35-6013-A95B-9C96-BCBCABA03D4D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B6CA8-3C26-AC51-E0ED-5B1BC148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5" y="1015760"/>
            <a:ext cx="4258269" cy="3429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A1BEB3-D203-387F-8560-93CE07B77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855" y="1139602"/>
            <a:ext cx="3143689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87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5E4F-FBFE-247A-3F0B-04B6AABD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18B494-0CFF-3735-8D95-2847BE22F9E0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73B683-3560-D2A5-B294-31D75A1E48B4}"/>
              </a:ext>
            </a:extLst>
          </p:cNvPr>
          <p:cNvSpPr/>
          <p:nvPr/>
        </p:nvSpPr>
        <p:spPr>
          <a:xfrm>
            <a:off x="496119" y="251460"/>
            <a:ext cx="2356321" cy="48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u="sng" dirty="0"/>
              <a:t>Remote State and Secret Management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85A2BD-C9D5-56AF-7511-960B82803E0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1734" y="735880"/>
            <a:ext cx="7950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dedicated blob container is used to maintain the Terraform state for each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State locking is handled automatically by the Azure backend during Terraform operations, preventing multiple users or pipelines from modifying the same state at the same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avoids race conditions, conflicting updates, and state corruption during plan and apply.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Secrets are injected securely into the pipeline using GitHub Secrets.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authentication for Terraform is handled through OIDC-based login, reducing the need for long-lived static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9A108-EA68-6AE7-3DFB-228C50A52433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587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81F2-8349-02B3-4898-69A6B5BE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D835BF-2490-E702-C38B-C141C7B9AAD1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DB4503-C6A7-04A0-20DD-4945580A04D2}"/>
              </a:ext>
            </a:extLst>
          </p:cNvPr>
          <p:cNvSpPr/>
          <p:nvPr/>
        </p:nvSpPr>
        <p:spPr>
          <a:xfrm>
            <a:off x="496119" y="251460"/>
            <a:ext cx="2356321" cy="48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60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A8BCCB-CEC3-C14F-0C41-7E27EE78B734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4FF795-75A9-3FAE-2F55-1155E9EE0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968"/>
            <a:ext cx="9144000" cy="420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33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E7A2-F262-9A42-9547-67FC2687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E066F7-66F9-B966-55B6-8A67B0675BB7}"/>
              </a:ext>
            </a:extLst>
          </p:cNvPr>
          <p:cNvSpPr/>
          <p:nvPr/>
        </p:nvSpPr>
        <p:spPr>
          <a:xfrm>
            <a:off x="496119" y="389855"/>
            <a:ext cx="276076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28282F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53A3A2-3C02-38ED-3538-67A58437A529}"/>
              </a:ext>
            </a:extLst>
          </p:cNvPr>
          <p:cNvSpPr/>
          <p:nvPr/>
        </p:nvSpPr>
        <p:spPr>
          <a:xfrm>
            <a:off x="496119" y="251460"/>
            <a:ext cx="2356321" cy="48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60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D2FD84-C5DE-E258-8414-B3587E9DE253}"/>
              </a:ext>
            </a:extLst>
          </p:cNvPr>
          <p:cNvSpPr/>
          <p:nvPr/>
        </p:nvSpPr>
        <p:spPr>
          <a:xfrm>
            <a:off x="8072438" y="4842933"/>
            <a:ext cx="986895" cy="228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CBB6F-46BE-F925-5421-735E8D59A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700"/>
            <a:ext cx="9144000" cy="420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6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2712</TotalTime>
  <Words>665</Words>
  <Application>Microsoft Office PowerPoint</Application>
  <PresentationFormat>On-screen Show (16:9)</PresentationFormat>
  <Paragraphs>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DM Sans Medium</vt:lpstr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Norah Elizabeth Biju(UST,IN)</dc:creator>
  <cp:lastModifiedBy>Norah Elizabeth Biju(UST,IN)</cp:lastModifiedBy>
  <cp:revision>4</cp:revision>
  <dcterms:created xsi:type="dcterms:W3CDTF">2026-06-23T18:17:26Z</dcterms:created>
  <dcterms:modified xsi:type="dcterms:W3CDTF">2026-06-26T06:20:28Z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2026-06-24T09:07:46Z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96654259-5fe8-455b-b3d7-2cb62400e698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